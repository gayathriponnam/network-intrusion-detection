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79" r:id="rId7"/>
    <p:sldId id="262" r:id="rId8"/>
    <p:sldId id="290" r:id="rId9"/>
    <p:sldId id="291" r:id="rId10"/>
    <p:sldId id="287" r:id="rId11"/>
    <p:sldId id="286"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A15E4E-ABCB-483B-BE0E-EA4D30662979}" v="4" dt="2026-07-03T09:50:17.60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hri Ponnam" userId="0b137b3d7f771e65" providerId="LiveId" clId="{4D7ADAE0-ED47-44E5-89BA-4C673F3B2F7E}"/>
    <pc:docChg chg="undo redo custSel modSld">
      <pc:chgData name="Gayathri Ponnam" userId="0b137b3d7f771e65" providerId="LiveId" clId="{4D7ADAE0-ED47-44E5-89BA-4C673F3B2F7E}" dt="2026-07-06T06:12:05.584" v="258" actId="1076"/>
      <pc:docMkLst>
        <pc:docMk/>
      </pc:docMkLst>
      <pc:sldChg chg="addSp delSp modSp mod">
        <pc:chgData name="Gayathri Ponnam" userId="0b137b3d7f771e65" providerId="LiveId" clId="{4D7ADAE0-ED47-44E5-89BA-4C673F3B2F7E}" dt="2026-07-03T09:51:30.168" v="257"/>
        <pc:sldMkLst>
          <pc:docMk/>
          <pc:sldMk cId="0" sldId="257"/>
        </pc:sldMkLst>
        <pc:spChg chg="mod">
          <ac:chgData name="Gayathri Ponnam" userId="0b137b3d7f771e65" providerId="LiveId" clId="{4D7ADAE0-ED47-44E5-89BA-4C673F3B2F7E}" dt="2026-07-03T08:40:54.039" v="199" actId="20577"/>
          <ac:spMkLst>
            <pc:docMk/>
            <pc:sldMk cId="0" sldId="257"/>
            <ac:spMk id="4" creationId="{A828B9EF-C084-F5D4-CA27-75AF7D995640}"/>
          </ac:spMkLst>
        </pc:spChg>
        <pc:spChg chg="mod">
          <ac:chgData name="Gayathri Ponnam" userId="0b137b3d7f771e65" providerId="LiveId" clId="{4D7ADAE0-ED47-44E5-89BA-4C673F3B2F7E}" dt="2026-07-03T08:38:10.544" v="137" actId="20577"/>
          <ac:spMkLst>
            <pc:docMk/>
            <pc:sldMk cId="0" sldId="257"/>
            <ac:spMk id="7" creationId="{3D723CA3-EC2D-165A-F109-3759C4E9C8A4}"/>
          </ac:spMkLst>
        </pc:spChg>
        <pc:graphicFrameChg chg="modGraphic">
          <ac:chgData name="Gayathri Ponnam" userId="0b137b3d7f771e65" providerId="LiveId" clId="{4D7ADAE0-ED47-44E5-89BA-4C673F3B2F7E}" dt="2026-07-03T09:51:03.877" v="253" actId="20577"/>
          <ac:graphicFrameMkLst>
            <pc:docMk/>
            <pc:sldMk cId="0" sldId="257"/>
            <ac:graphicFrameMk id="96" creationId="{00000000-0000-0000-0000-000000000000}"/>
          </ac:graphicFrameMkLst>
        </pc:graphicFrameChg>
        <pc:picChg chg="add mod">
          <ac:chgData name="Gayathri Ponnam" userId="0b137b3d7f771e65" providerId="LiveId" clId="{4D7ADAE0-ED47-44E5-89BA-4C673F3B2F7E}" dt="2026-07-03T09:50:32.450" v="249" actId="14100"/>
          <ac:picMkLst>
            <pc:docMk/>
            <pc:sldMk cId="0" sldId="257"/>
            <ac:picMk id="2" creationId="{3680ACA9-0E41-9AA1-B1F4-C04BF6304D18}"/>
          </ac:picMkLst>
        </pc:picChg>
      </pc:sldChg>
      <pc:sldChg chg="modSp mod">
        <pc:chgData name="Gayathri Ponnam" userId="0b137b3d7f771e65" providerId="LiveId" clId="{4D7ADAE0-ED47-44E5-89BA-4C673F3B2F7E}" dt="2026-07-06T06:12:05.584" v="258" actId="1076"/>
        <pc:sldMkLst>
          <pc:docMk/>
          <pc:sldMk cId="2605851928" sldId="287"/>
        </pc:sldMkLst>
        <pc:spChg chg="mod">
          <ac:chgData name="Gayathri Ponnam" userId="0b137b3d7f771e65" providerId="LiveId" clId="{4D7ADAE0-ED47-44E5-89BA-4C673F3B2F7E}" dt="2026-07-06T06:12:05.584" v="258" actId="1076"/>
          <ac:spMkLst>
            <pc:docMk/>
            <pc:sldMk cId="2605851928" sldId="287"/>
            <ac:spMk id="279" creationId="{3711AF54-94A6-B837-31EF-9A8C4ECB9AF6}"/>
          </ac:spMkLst>
        </pc:spChg>
      </pc:sldChg>
      <pc:sldChg chg="addSp delSp modSp mod">
        <pc:chgData name="Gayathri Ponnam" userId="0b137b3d7f771e65" providerId="LiveId" clId="{4D7ADAE0-ED47-44E5-89BA-4C673F3B2F7E}" dt="2026-07-03T08:46:38.460" v="208" actId="14100"/>
        <pc:sldMkLst>
          <pc:docMk/>
          <pc:sldMk cId="1229047658" sldId="288"/>
        </pc:sldMkLst>
        <pc:picChg chg="add mod">
          <ac:chgData name="Gayathri Ponnam" userId="0b137b3d7f771e65" providerId="LiveId" clId="{4D7ADAE0-ED47-44E5-89BA-4C673F3B2F7E}" dt="2026-07-03T08:46:38.460" v="208" actId="14100"/>
          <ac:picMkLst>
            <pc:docMk/>
            <pc:sldMk cId="1229047658" sldId="288"/>
            <ac:picMk id="8" creationId="{52554782-74C3-4F04-75B7-E7ADBFF97F20}"/>
          </ac:picMkLst>
        </pc:picChg>
      </pc:sldChg>
      <pc:sldChg chg="addSp delSp modSp mod">
        <pc:chgData name="Gayathri Ponnam" userId="0b137b3d7f771e65" providerId="LiveId" clId="{4D7ADAE0-ED47-44E5-89BA-4C673F3B2F7E}" dt="2026-07-03T08:48:01.421" v="217" actId="1076"/>
        <pc:sldMkLst>
          <pc:docMk/>
          <pc:sldMk cId="2506610743" sldId="289"/>
        </pc:sldMkLst>
        <pc:picChg chg="add mod">
          <ac:chgData name="Gayathri Ponnam" userId="0b137b3d7f771e65" providerId="LiveId" clId="{4D7ADAE0-ED47-44E5-89BA-4C673F3B2F7E}" dt="2026-07-03T08:48:01.421" v="217" actId="1076"/>
          <ac:picMkLst>
            <pc:docMk/>
            <pc:sldMk cId="2506610743" sldId="289"/>
            <ac:picMk id="3" creationId="{2DC6D9BB-8B7A-F752-E345-E15593D751F6}"/>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7" Type="http://schemas.openxmlformats.org/officeDocument/2006/relationships/image" Target="../media/image6.jp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1749522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Gayathri Ponnam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gayathriponnam03@gmail.com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9160149497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Cyber Security]</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[Network Intrusion Detection using </a:t>
            </a:r>
            <a:r>
              <a:rPr lang="en-US" sz="2400" b="1" dirty="0" err="1">
                <a:highlight>
                  <a:srgbClr val="FFFF00"/>
                </a:highlight>
              </a:rPr>
              <a:t>Mechine</a:t>
            </a:r>
            <a:r>
              <a:rPr lang="en-US" sz="2400" b="1" dirty="0">
                <a:highlight>
                  <a:srgbClr val="FFFF00"/>
                </a:highlight>
              </a:rPr>
              <a:t> Learning]</a:t>
            </a:r>
            <a:endParaRPr lang="en-IN" sz="2400" b="1" dirty="0">
              <a:highlight>
                <a:srgbClr val="FFFF00"/>
              </a:highlight>
            </a:endParaRPr>
          </a:p>
        </p:txBody>
      </p:sp>
      <p:pic>
        <p:nvPicPr>
          <p:cNvPr id="2" name="Picture 1">
            <a:extLst>
              <a:ext uri="{FF2B5EF4-FFF2-40B4-BE49-F238E27FC236}">
                <a16:creationId xmlns:a16="http://schemas.microsoft.com/office/drawing/2014/main" id="{3680ACA9-0E41-9AA1-B1F4-C04BF6304D18}"/>
              </a:ext>
            </a:extLst>
          </p:cNvPr>
          <p:cNvPicPr>
            <a:picLocks noChangeAspect="1"/>
          </p:cNvPicPr>
          <p:nvPr/>
        </p:nvPicPr>
        <p:blipFill rotWithShape="1">
          <a:blip r:embed="rId3">
            <a:extLst>
              <a:ext uri="{28A0092B-C50C-407E-A947-70E740481C1C}">
                <a14:useLocalDpi xmlns:a14="http://schemas.microsoft.com/office/drawing/2010/main" val="0"/>
              </a:ext>
            </a:extLst>
          </a:blip>
          <a:srcRect l="5638" t="6348" r="4678" b="38178"/>
          <a:stretch>
            <a:fillRect/>
          </a:stretch>
        </p:blipFill>
        <p:spPr bwMode="auto">
          <a:xfrm>
            <a:off x="4100052" y="3716595"/>
            <a:ext cx="1091380" cy="908006"/>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99005" y="901104"/>
            <a:ext cx="11357834" cy="4832092"/>
          </a:xfrm>
          <a:prstGeom prst="rect">
            <a:avLst/>
          </a:prstGeom>
          <a:noFill/>
        </p:spPr>
        <p:txBody>
          <a:bodyPr wrap="square" lIns="91440" tIns="45720" rIns="91440" bIns="45720" rtlCol="0" anchor="t">
            <a:spAutoFit/>
          </a:bodyPr>
          <a:lstStyle/>
          <a:p>
            <a:pPr>
              <a:lnSpc>
                <a:spcPct val="150000"/>
              </a:lnSpc>
            </a:pPr>
            <a:r>
              <a:rPr lang="en-IN" sz="2200" b="1" dirty="0"/>
              <a:t>Problem Statement: Network Intrusion Detection Using Machine Learning :</a:t>
            </a:r>
            <a:endParaRPr lang="en-IN" sz="2200" dirty="0"/>
          </a:p>
          <a:p>
            <a:pPr>
              <a:lnSpc>
                <a:spcPct val="150000"/>
              </a:lnSpc>
            </a:pPr>
            <a:r>
              <a:rPr lang="en-IN" sz="2000" dirty="0"/>
              <a:t>Modern computer networks face increasing cyber threats such as unauthorized access, malware, and denial-of-service (DoS) attacks. Traditional intrusion detection methods are often unable to detect evolving attacks efficiently. This project aims to develop a machine learning-based Network Intrusion Detection System that accurately classifies network traffic as normal or malicious using network connection features. The solution helps improve network security by enabling faster, more reliable, and automated cyber threat detection.</a:t>
            </a:r>
          </a:p>
          <a:p>
            <a:pPr>
              <a:lnSpc>
                <a:spcPct val="150000"/>
              </a:lnSpc>
            </a:pPr>
            <a:endParaRPr lang="en-IN" sz="2000" dirty="0"/>
          </a:p>
          <a:p>
            <a:pPr fontAlgn="base">
              <a:lnSpc>
                <a:spcPct val="150000"/>
              </a:lnSpc>
            </a:pPr>
            <a:endParaRPr lang="en-US" sz="2000" dirty="0"/>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499005" y="291955"/>
            <a:ext cx="7214616" cy="523220"/>
          </a:xfrm>
          <a:prstGeom prst="rect">
            <a:avLst/>
          </a:prstGeom>
          <a:noFill/>
        </p:spPr>
        <p:txBody>
          <a:bodyPr wrap="square" rtlCol="0">
            <a:spAutoFit/>
          </a:bodyPr>
          <a:lstStyle/>
          <a:p>
            <a:r>
              <a:rPr lang="en-US" sz="2800" b="1" dirty="0"/>
              <a:t>Problem Statement </a:t>
            </a:r>
            <a:r>
              <a:rPr lang="en-US" sz="2400" b="1" dirty="0"/>
              <a: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363184" y="818326"/>
            <a:ext cx="11131336" cy="4651979"/>
          </a:xfrm>
          <a:prstGeom prst="rect">
            <a:avLst/>
          </a:prstGeom>
          <a:noFill/>
        </p:spPr>
        <p:txBody>
          <a:bodyPr wrap="square" lIns="91440" tIns="45720" rIns="91440" bIns="45720" rtlCol="0" anchor="t">
            <a:spAutoFit/>
          </a:bodyPr>
          <a:lstStyle/>
          <a:p>
            <a:pPr fontAlgn="base">
              <a:lnSpc>
                <a:spcPct val="150000"/>
              </a:lnSpc>
            </a:pPr>
            <a:r>
              <a:rPr lang="en-US" sz="2000" b="1" dirty="0"/>
              <a:t> (IBM watsonx.ai Studio – </a:t>
            </a:r>
            <a:r>
              <a:rPr lang="en-US" sz="2000" b="1" dirty="0" err="1"/>
              <a:t>AutoAI</a:t>
            </a:r>
            <a:r>
              <a:rPr lang="en-US" sz="2000" b="1" dirty="0"/>
              <a:t>):</a:t>
            </a:r>
          </a:p>
          <a:p>
            <a:pPr marL="342900" indent="-342900" fontAlgn="base">
              <a:lnSpc>
                <a:spcPct val="150000"/>
              </a:lnSpc>
              <a:buFont typeface="Arial" panose="020B0604020202020204" pitchFamily="34" charset="0"/>
              <a:buChar char="•"/>
            </a:pPr>
            <a:r>
              <a:rPr lang="en-IN" sz="2000" dirty="0"/>
              <a:t>We propose an AI-powered </a:t>
            </a:r>
            <a:r>
              <a:rPr lang="en-IN" sz="2000" b="1" dirty="0"/>
              <a:t>Network Intrusion Detection System</a:t>
            </a:r>
            <a:r>
              <a:rPr lang="en-IN" sz="2000" dirty="0"/>
              <a:t> using </a:t>
            </a:r>
            <a:r>
              <a:rPr lang="en-IN" sz="2000" b="1" dirty="0"/>
              <a:t>IBM watsonx.ai Studio</a:t>
            </a:r>
            <a:r>
              <a:rPr lang="en-IN" sz="2000" dirty="0"/>
              <a:t> and </a:t>
            </a:r>
            <a:r>
              <a:rPr lang="en-IN" sz="2000" b="1" dirty="0" err="1"/>
              <a:t>AutoAI</a:t>
            </a:r>
            <a:r>
              <a:rPr lang="en-IN" sz="2000" dirty="0"/>
              <a:t>. </a:t>
            </a:r>
          </a:p>
          <a:p>
            <a:pPr marL="342900" indent="-342900" fontAlgn="base">
              <a:lnSpc>
                <a:spcPct val="150000"/>
              </a:lnSpc>
              <a:buFont typeface="Arial" panose="020B0604020202020204" pitchFamily="34" charset="0"/>
              <a:buChar char="•"/>
            </a:pPr>
            <a:r>
              <a:rPr lang="en-IN" sz="2000" dirty="0"/>
              <a:t>Network traffic data is collected and uploaded to </a:t>
            </a:r>
            <a:r>
              <a:rPr lang="en-IN" sz="2000" b="1" dirty="0"/>
              <a:t>watsonx.ai</a:t>
            </a:r>
            <a:r>
              <a:rPr lang="en-IN" sz="2000" dirty="0"/>
              <a:t> for analysis.</a:t>
            </a:r>
          </a:p>
          <a:p>
            <a:pPr marL="342900" indent="-342900" fontAlgn="base">
              <a:lnSpc>
                <a:spcPct val="150000"/>
              </a:lnSpc>
              <a:buFont typeface="Arial" panose="020B0604020202020204" pitchFamily="34" charset="0"/>
              <a:buChar char="•"/>
            </a:pPr>
            <a:r>
              <a:rPr lang="en-IN" sz="2000" dirty="0"/>
              <a:t> </a:t>
            </a:r>
            <a:r>
              <a:rPr lang="en-IN" sz="2000" dirty="0" err="1"/>
              <a:t>AutoAI</a:t>
            </a:r>
            <a:r>
              <a:rPr lang="en-IN" sz="2000" dirty="0"/>
              <a:t> automatically performs </a:t>
            </a:r>
            <a:r>
              <a:rPr lang="en-IN" sz="2000" b="1" dirty="0"/>
              <a:t>data preprocessing, feature engineering, and hyperparameter optimization</a:t>
            </a:r>
            <a:r>
              <a:rPr lang="en-IN" sz="2000" dirty="0"/>
              <a:t>. </a:t>
            </a:r>
          </a:p>
          <a:p>
            <a:pPr marL="342900" indent="-342900" fontAlgn="base">
              <a:lnSpc>
                <a:spcPct val="150000"/>
              </a:lnSpc>
              <a:buFont typeface="Arial" panose="020B0604020202020204" pitchFamily="34" charset="0"/>
              <a:buChar char="•"/>
            </a:pPr>
            <a:r>
              <a:rPr lang="en-IN" sz="2000" dirty="0"/>
              <a:t>Multiple machine learning models are trained and evaluated to select the </a:t>
            </a:r>
            <a:r>
              <a:rPr lang="en-IN" sz="2000" b="1" dirty="0"/>
              <a:t>best-performing model</a:t>
            </a:r>
            <a:r>
              <a:rPr lang="en-IN" sz="2000" dirty="0"/>
              <a:t>. </a:t>
            </a:r>
          </a:p>
          <a:p>
            <a:pPr marL="342900" indent="-342900" fontAlgn="base">
              <a:lnSpc>
                <a:spcPct val="150000"/>
              </a:lnSpc>
              <a:buFont typeface="Arial" panose="020B0604020202020204" pitchFamily="34" charset="0"/>
              <a:buChar char="•"/>
            </a:pPr>
            <a:r>
              <a:rPr lang="en-IN" sz="2000" dirty="0"/>
              <a:t>The selected model classifies network traffic as </a:t>
            </a:r>
            <a:r>
              <a:rPr lang="en-IN" sz="2000" b="1" dirty="0"/>
              <a:t>Normal</a:t>
            </a:r>
            <a:r>
              <a:rPr lang="en-IN" sz="2000" dirty="0"/>
              <a:t> or </a:t>
            </a:r>
            <a:r>
              <a:rPr lang="en-IN" sz="2000" b="1" dirty="0"/>
              <a:t>cyber attacks</a:t>
            </a:r>
            <a:r>
              <a:rPr lang="en-IN" sz="2000" dirty="0"/>
              <a:t> such as </a:t>
            </a:r>
            <a:r>
              <a:rPr lang="en-IN" sz="2000" b="1" dirty="0"/>
              <a:t>DoS, Probe, R2L, and U2R</a:t>
            </a:r>
            <a:r>
              <a:rPr lang="en-IN" sz="2000" dirty="0"/>
              <a:t>, enabling fast and accurate intrusion detection.</a:t>
            </a:r>
            <a:endParaRPr lang="en-US" sz="2000"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899160" y="745343"/>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62760"/>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US" sz="1800" b="1" dirty="0"/>
              <a:t>IBM Cloud </a:t>
            </a:r>
            <a:r>
              <a:rPr lang="en-US" sz="1800" dirty="0"/>
              <a:t>–</a:t>
            </a:r>
            <a:r>
              <a:rPr lang="en-IN" sz="1800" dirty="0"/>
              <a:t>It provides the infrastructure to build, train, deploy, and scale the </a:t>
            </a:r>
            <a:r>
              <a:rPr lang="en-IN" sz="1800" b="1" dirty="0"/>
              <a:t>Network Intrusion Detection System</a:t>
            </a:r>
            <a:r>
              <a:rPr lang="en-IN" sz="1800" dirty="0"/>
              <a:t> efficiently. IBM Cloud offers a reliable, secure, and scalable environment for developing machine learning models using </a:t>
            </a:r>
            <a:r>
              <a:rPr lang="en-IN" sz="1800" b="1" dirty="0"/>
              <a:t>IBM watsonx.ai Studio</a:t>
            </a:r>
            <a:r>
              <a:rPr lang="en-IN" sz="1800" dirty="0"/>
              <a:t> and </a:t>
            </a:r>
            <a:r>
              <a:rPr lang="en-IN" sz="1800" b="1" dirty="0" err="1"/>
              <a:t>AutoAI</a:t>
            </a:r>
            <a:r>
              <a:rPr lang="en-IN" sz="1800" dirty="0"/>
              <a:t>, enabling accurate detection and classification of network intrusions.</a:t>
            </a:r>
            <a:endParaRPr lang="en-US" sz="1800" dirty="0"/>
          </a:p>
          <a:p>
            <a:pPr marL="285750" indent="-285750">
              <a:lnSpc>
                <a:spcPct val="150000"/>
              </a:lnSpc>
              <a:buFont typeface="Arial" panose="020B0604020202020204" pitchFamily="34" charset="0"/>
              <a:buChar char="•"/>
            </a:pPr>
            <a:r>
              <a:rPr lang="en-US" sz="1800" b="1" dirty="0"/>
              <a:t>ML Algorithm/ Model Used : </a:t>
            </a:r>
            <a:r>
              <a:rPr lang="en-US" sz="1800" u="sng" dirty="0"/>
              <a:t>Decision Tree Classifier (Pipeline 4</a:t>
            </a:r>
            <a:r>
              <a:rPr lang="en-US" sz="1800" dirty="0"/>
              <a:t>).</a:t>
            </a:r>
            <a:endParaRPr lang="en-IN" sz="1800" b="1" dirty="0"/>
          </a:p>
          <a:p>
            <a:pPr marL="285750" indent="-285750">
              <a:lnSpc>
                <a:spcPct val="150000"/>
              </a:lnSpc>
              <a:buFont typeface="Arial" panose="020B0604020202020204" pitchFamily="34" charset="0"/>
              <a:buChar char="•"/>
            </a:pPr>
            <a:r>
              <a:rPr lang="en-US" sz="1800" b="1" dirty="0"/>
              <a:t>Accuracy Obtained:  </a:t>
            </a:r>
            <a:r>
              <a:rPr lang="en-US" sz="1800" u="sng" dirty="0"/>
              <a:t>0.999(99.9%)</a:t>
            </a:r>
          </a:p>
          <a:p>
            <a:pPr marL="285750" indent="-285750">
              <a:lnSpc>
                <a:spcPct val="150000"/>
              </a:lnSpc>
              <a:buFont typeface="Arial" panose="020B0604020202020204" pitchFamily="34" charset="0"/>
              <a:buChar char="•"/>
            </a:pPr>
            <a:r>
              <a:rPr lang="en-US" sz="1800" b="1" dirty="0"/>
              <a:t>Enhancements and Hyperparameter tuning: </a:t>
            </a:r>
            <a:r>
              <a:rPr lang="en-IN" sz="1800" dirty="0" err="1"/>
              <a:t>AutoAI</a:t>
            </a:r>
            <a:r>
              <a:rPr lang="en-IN" sz="1800" dirty="0"/>
              <a:t> automatically performed </a:t>
            </a:r>
            <a:r>
              <a:rPr lang="en-IN" sz="1800" b="1" dirty="0"/>
              <a:t>Feature Engineering (FE), Hyperparameter Optimization (HPO-1 &amp; HPO-2), and model optimization</a:t>
            </a:r>
            <a:r>
              <a:rPr lang="en-IN" sz="1800" dirty="0"/>
              <a:t> to achieve the best-performing machine learning mode.</a:t>
            </a:r>
            <a:endParaRPr lang="en-US" sz="1800" dirty="0"/>
          </a:p>
          <a:p>
            <a:pPr marL="285750" indent="-285750">
              <a:lnSpc>
                <a:spcPct val="150000"/>
              </a:lnSpc>
              <a:buFont typeface="Arial" panose="020B0604020202020204" pitchFamily="34" charset="0"/>
              <a:buChar char="•"/>
            </a:pPr>
            <a:endParaRPr lang="en-US" sz="1800" dirty="0"/>
          </a:p>
          <a:p>
            <a:endParaRPr lang="en-US"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19C9D6A8-F297-4ED6-B80B-D07705E65209}"/>
              </a:ext>
            </a:extLst>
          </p:cNvPr>
          <p:cNvPicPr>
            <a:picLocks noChangeAspect="1"/>
          </p:cNvPicPr>
          <p:nvPr/>
        </p:nvPicPr>
        <p:blipFill>
          <a:blip r:embed="rId3"/>
          <a:stretch>
            <a:fillRect/>
          </a:stretch>
        </p:blipFill>
        <p:spPr>
          <a:xfrm>
            <a:off x="243333" y="895130"/>
            <a:ext cx="11705334" cy="534835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300C84EF-FCCE-2132-4961-1C0801CF8CEC}"/>
              </a:ext>
            </a:extLst>
          </p:cNvPr>
          <p:cNvPicPr>
            <a:picLocks noChangeAspect="1"/>
          </p:cNvPicPr>
          <p:nvPr/>
        </p:nvPicPr>
        <p:blipFill>
          <a:blip r:embed="rId3"/>
          <a:stretch>
            <a:fillRect/>
          </a:stretch>
        </p:blipFill>
        <p:spPr>
          <a:xfrm>
            <a:off x="266195" y="887510"/>
            <a:ext cx="11659610" cy="50829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02B0C17F-F9E6-9988-D14E-C6646646213B}"/>
              </a:ext>
            </a:extLst>
          </p:cNvPr>
          <p:cNvPicPr>
            <a:picLocks noChangeAspect="1"/>
          </p:cNvPicPr>
          <p:nvPr/>
        </p:nvPicPr>
        <p:blipFill>
          <a:blip r:embed="rId3"/>
          <a:stretch>
            <a:fillRect/>
          </a:stretch>
        </p:blipFill>
        <p:spPr>
          <a:xfrm>
            <a:off x="243333" y="830355"/>
            <a:ext cx="11705334" cy="5197290"/>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3" name="Picture 2">
            <a:extLst>
              <a:ext uri="{FF2B5EF4-FFF2-40B4-BE49-F238E27FC236}">
                <a16:creationId xmlns:a16="http://schemas.microsoft.com/office/drawing/2014/main" id="{B3B54B5B-BB85-73B8-2275-013425A39F05}"/>
              </a:ext>
            </a:extLst>
          </p:cNvPr>
          <p:cNvPicPr>
            <a:picLocks noChangeAspect="1"/>
          </p:cNvPicPr>
          <p:nvPr/>
        </p:nvPicPr>
        <p:blipFill>
          <a:blip r:embed="rId2"/>
          <a:stretch>
            <a:fillRect/>
          </a:stretch>
        </p:blipFill>
        <p:spPr>
          <a:xfrm>
            <a:off x="647228" y="944664"/>
            <a:ext cx="10897544" cy="4968671"/>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071240"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400" dirty="0">
                <a:sym typeface="Times New Roman"/>
              </a:rPr>
              <a:t>https://github.com/gayathriponnam/Network-Intrusion-Detection.git</a:t>
            </a:r>
            <a:endParaRPr sz="2400" dirty="0">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807228" y="494465"/>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4196020"/>
          </a:xfrm>
          <a:prstGeom prst="rect">
            <a:avLst/>
          </a:prstGeom>
          <a:noFill/>
        </p:spPr>
        <p:txBody>
          <a:bodyPr wrap="square" lIns="91440" tIns="45720" rIns="91440" bIns="45720" rtlCol="0" anchor="t">
            <a:spAutoFit/>
          </a:bodyPr>
          <a:lstStyle/>
          <a:p>
            <a:pPr marL="285750" indent="-285750">
              <a:lnSpc>
                <a:spcPct val="150000"/>
              </a:lnSpc>
              <a:buFont typeface="Arial" panose="020B0604020202020204" pitchFamily="34" charset="0"/>
              <a:buChar char="•"/>
            </a:pPr>
            <a:r>
              <a:rPr lang="en-IN" sz="1800" dirty="0"/>
              <a:t>The solution automates </a:t>
            </a:r>
            <a:r>
              <a:rPr lang="en-IN" sz="1800" b="1" dirty="0"/>
              <a:t>network intrusion detection</a:t>
            </a:r>
            <a:r>
              <a:rPr lang="en-IN" sz="1800" dirty="0"/>
              <a:t>, reducing manual monitoring efforts and improving the speed of cyber threat identification. </a:t>
            </a:r>
          </a:p>
          <a:p>
            <a:pPr marL="285750" indent="-285750">
              <a:lnSpc>
                <a:spcPct val="150000"/>
              </a:lnSpc>
              <a:buFont typeface="Arial" panose="020B0604020202020204" pitchFamily="34" charset="0"/>
              <a:buChar char="•"/>
            </a:pPr>
            <a:r>
              <a:rPr lang="en-IN" sz="1800" dirty="0"/>
              <a:t>It uses </a:t>
            </a:r>
            <a:r>
              <a:rPr lang="en-IN" sz="1800" b="1" dirty="0"/>
              <a:t>IBM watsonx.ai </a:t>
            </a:r>
            <a:r>
              <a:rPr lang="en-IN" sz="1800" b="1" dirty="0" err="1"/>
              <a:t>AutoAI</a:t>
            </a:r>
            <a:r>
              <a:rPr lang="en-IN" sz="1800" dirty="0"/>
              <a:t> to automatically discover the best machine learning model without requiring extensive coding or manual model selection. </a:t>
            </a:r>
          </a:p>
          <a:p>
            <a:pPr marL="285750" indent="-285750">
              <a:lnSpc>
                <a:spcPct val="150000"/>
              </a:lnSpc>
              <a:buFont typeface="Arial" panose="020B0604020202020204" pitchFamily="34" charset="0"/>
              <a:buChar char="•"/>
            </a:pPr>
            <a:r>
              <a:rPr lang="en-IN" sz="1800" dirty="0"/>
              <a:t>The system can accurately classify network traffic into </a:t>
            </a:r>
            <a:r>
              <a:rPr lang="en-IN" sz="1800" b="1" dirty="0"/>
              <a:t>normal</a:t>
            </a:r>
            <a:r>
              <a:rPr lang="en-IN" sz="1800" dirty="0"/>
              <a:t> and </a:t>
            </a:r>
            <a:r>
              <a:rPr lang="en-IN" sz="1800" b="1" dirty="0"/>
              <a:t>malicious</a:t>
            </a:r>
            <a:r>
              <a:rPr lang="en-IN" sz="1800" dirty="0"/>
              <a:t> categories through a single intelligent platform. </a:t>
            </a:r>
          </a:p>
          <a:p>
            <a:pPr marL="285750" indent="-285750">
              <a:lnSpc>
                <a:spcPct val="150000"/>
              </a:lnSpc>
              <a:buFont typeface="Arial" panose="020B0604020202020204" pitchFamily="34" charset="0"/>
              <a:buChar char="•"/>
            </a:pPr>
            <a:r>
              <a:rPr lang="en-IN" sz="1800" dirty="0"/>
              <a:t>Automated </a:t>
            </a:r>
            <a:r>
              <a:rPr lang="en-IN" sz="1800" b="1" dirty="0"/>
              <a:t>feature engineering</a:t>
            </a:r>
            <a:r>
              <a:rPr lang="en-IN" sz="1800" dirty="0"/>
              <a:t> and </a:t>
            </a:r>
            <a:r>
              <a:rPr lang="en-IN" sz="1800" b="1" dirty="0"/>
              <a:t>hyperparameter optimization</a:t>
            </a:r>
            <a:r>
              <a:rPr lang="en-IN" sz="1800" dirty="0"/>
              <a:t> help identify hidden patterns in network traffic, improving intrusion detection accuracy. </a:t>
            </a:r>
          </a:p>
          <a:p>
            <a:pPr marL="285750" indent="-285750">
              <a:lnSpc>
                <a:spcPct val="150000"/>
              </a:lnSpc>
              <a:buFont typeface="Arial" panose="020B0604020202020204" pitchFamily="34" charset="0"/>
              <a:buChar char="•"/>
            </a:pPr>
            <a:r>
              <a:rPr lang="en-IN" sz="1800" dirty="0"/>
              <a:t>The model ensures </a:t>
            </a:r>
            <a:r>
              <a:rPr lang="en-IN" sz="1800" b="1" dirty="0"/>
              <a:t>reliable, consistent, and real-time detection</a:t>
            </a:r>
            <a:r>
              <a:rPr lang="en-IN" sz="1800" dirty="0"/>
              <a:t> of cyber attacks, minimizing false positives and enhancing overall network security.</a:t>
            </a:r>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lnSpc>
                <a:spcPct val="150000"/>
              </a:lnSpc>
              <a:buFont typeface="Arial" panose="020B0604020202020204" pitchFamily="34" charset="0"/>
              <a:buChar char="•"/>
            </a:pPr>
            <a:r>
              <a:rPr lang="en-IN" sz="2000" dirty="0"/>
              <a:t>The system can be integrated with </a:t>
            </a:r>
            <a:r>
              <a:rPr lang="en-IN" sz="2000" b="1" dirty="0"/>
              <a:t>enterprise networks</a:t>
            </a:r>
            <a:r>
              <a:rPr lang="en-IN" sz="2000" dirty="0"/>
              <a:t> for real-time intrusion detection. </a:t>
            </a:r>
          </a:p>
          <a:p>
            <a:pPr marL="342900" indent="-342900">
              <a:lnSpc>
                <a:spcPct val="150000"/>
              </a:lnSpc>
              <a:buFont typeface="Arial" panose="020B0604020202020204" pitchFamily="34" charset="0"/>
              <a:buChar char="•"/>
            </a:pPr>
            <a:r>
              <a:rPr lang="en-IN" sz="2000" dirty="0"/>
              <a:t>New cyber attack types can be added to improve detection capabilities. </a:t>
            </a:r>
          </a:p>
          <a:p>
            <a:pPr marL="342900" indent="-342900">
              <a:lnSpc>
                <a:spcPct val="150000"/>
              </a:lnSpc>
              <a:buFont typeface="Arial" panose="020B0604020202020204" pitchFamily="34" charset="0"/>
              <a:buChar char="•"/>
            </a:pPr>
            <a:r>
              <a:rPr lang="en-IN" sz="2000" dirty="0"/>
              <a:t>Advanced AI models in </a:t>
            </a:r>
            <a:r>
              <a:rPr lang="en-IN" sz="2000" b="1" dirty="0"/>
              <a:t>IBM watsonx.ai</a:t>
            </a:r>
            <a:r>
              <a:rPr lang="en-IN" sz="2000" dirty="0"/>
              <a:t> can further enhance prediction accuracy. </a:t>
            </a:r>
          </a:p>
          <a:p>
            <a:pPr marL="342900" indent="-342900">
              <a:lnSpc>
                <a:spcPct val="150000"/>
              </a:lnSpc>
              <a:buFont typeface="Arial" panose="020B0604020202020204" pitchFamily="34" charset="0"/>
              <a:buChar char="•"/>
            </a:pPr>
            <a:r>
              <a:rPr lang="en-IN" sz="2000" dirty="0"/>
              <a:t>The solution can be deployed across </a:t>
            </a:r>
            <a:r>
              <a:rPr lang="en-IN" sz="2000" b="1" dirty="0"/>
              <a:t>cloud and enterprise environments</a:t>
            </a:r>
            <a:r>
              <a:rPr lang="en-IN" sz="2000" dirty="0"/>
              <a:t> for scalable cybersecurity protection. </a:t>
            </a:r>
          </a:p>
          <a:p>
            <a:pPr marL="342900" indent="-342900">
              <a:lnSpc>
                <a:spcPct val="150000"/>
              </a:lnSpc>
              <a:buFont typeface="Arial" panose="020B0604020202020204" pitchFamily="34" charset="0"/>
              <a:buChar char="•"/>
            </a:pPr>
            <a:r>
              <a:rPr lang="en-IN" sz="2000" dirty="0"/>
              <a:t>Future enhancements can include </a:t>
            </a:r>
            <a:r>
              <a:rPr lang="en-IN" sz="2000" b="1" dirty="0"/>
              <a:t>real-time threat monitoring</a:t>
            </a:r>
            <a:r>
              <a:rPr lang="en-IN" sz="2000" dirty="0"/>
              <a:t> and automated incident response. </a:t>
            </a:r>
          </a:p>
          <a:p>
            <a:pPr marL="0" marR="0" lvl="0" indent="0" algn="l">
              <a:lnSpc>
                <a:spcPct val="150000"/>
              </a:lnSpc>
              <a:spcBef>
                <a:spcPts val="0"/>
              </a:spcBef>
              <a:spcAft>
                <a:spcPts val="0"/>
              </a:spcAft>
              <a:buSzPts val="1850"/>
              <a:buFont typeface="Times New Roman"/>
              <a:buNone/>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52554782-74C3-4F04-75B7-E7ADBFF97F20}"/>
              </a:ext>
            </a:extLst>
          </p:cNvPr>
          <p:cNvPicPr>
            <a:picLocks noChangeAspect="1"/>
          </p:cNvPicPr>
          <p:nvPr/>
        </p:nvPicPr>
        <p:blipFill>
          <a:blip r:embed="rId7"/>
          <a:stretch>
            <a:fillRect/>
          </a:stretch>
        </p:blipFill>
        <p:spPr>
          <a:xfrm>
            <a:off x="1219200" y="786582"/>
            <a:ext cx="9314329" cy="607141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2DC6D9BB-8B7A-F752-E345-E15593D751F6}"/>
              </a:ext>
            </a:extLst>
          </p:cNvPr>
          <p:cNvPicPr>
            <a:picLocks noChangeAspect="1"/>
          </p:cNvPicPr>
          <p:nvPr/>
        </p:nvPicPr>
        <p:blipFill>
          <a:blip r:embed="rId2"/>
          <a:stretch>
            <a:fillRect/>
          </a:stretch>
        </p:blipFill>
        <p:spPr>
          <a:xfrm>
            <a:off x="813005" y="1179871"/>
            <a:ext cx="9700752" cy="557489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571</Words>
  <Application>Microsoft Office PowerPoint</Application>
  <PresentationFormat>Widescreen</PresentationFormat>
  <Paragraphs>55</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Gayathri Ponnam</cp:lastModifiedBy>
  <cp:revision>2</cp:revision>
  <dcterms:created xsi:type="dcterms:W3CDTF">2025-07-08T05:06:56Z</dcterms:created>
  <dcterms:modified xsi:type="dcterms:W3CDTF">2026-07-06T06:12:16Z</dcterms:modified>
</cp:coreProperties>
</file>